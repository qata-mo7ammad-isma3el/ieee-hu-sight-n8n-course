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65" r:id="rId19"/>
  </p:sldIdLst>
  <p:sldSz cx="18288000" cy="10287000"/>
  <p:notesSz cx="6858000" cy="9144000"/>
  <p:embeddedFontLst>
    <p:embeddedFont>
      <p:font typeface="Bangers" panose="020B0604020202020204" charset="0"/>
      <p:regular r:id="rId21"/>
    </p:embeddedFont>
    <p:embeddedFont>
      <p:font typeface="Franklin Gothic Book" panose="020B0503020102020204" pitchFamily="34" charset="0"/>
      <p:regular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218" autoAdjust="0"/>
  </p:normalViewPr>
  <p:slideViewPr>
    <p:cSldViewPr>
      <p:cViewPr varScale="1">
        <p:scale>
          <a:sx n="42" d="100"/>
          <a:sy n="42" d="100"/>
        </p:scale>
        <p:origin x="9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4002523-EBD5-42F4-9DA1-0DF36BB1A508}" type="datetimeFigureOut">
              <a:rPr lang="ar-JO" smtClean="0"/>
              <a:t>15/08/1447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956323A-1177-490B-A143-E75192F7AA10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18080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(</a:t>
            </a:r>
            <a:r>
              <a:rPr lang="ar-JO" dirty="0"/>
              <a:t> </a:t>
            </a:r>
            <a:r>
              <a:rPr lang="en-US" dirty="0"/>
              <a:t>Heron of Alexandria</a:t>
            </a:r>
            <a:r>
              <a:rPr lang="ar-JO" dirty="0"/>
              <a:t> </a:t>
            </a:r>
            <a:r>
              <a:rPr lang="en-US" dirty="0"/>
              <a:t>)</a:t>
            </a:r>
            <a:r>
              <a:rPr lang="ar-JO" dirty="0"/>
              <a:t>    </a:t>
            </a:r>
          </a:p>
          <a:p>
            <a:endParaRPr lang="ar-JO" dirty="0"/>
          </a:p>
          <a:p>
            <a:r>
              <a:rPr lang="ar-SA" dirty="0"/>
              <a:t>هيرون الإسكندري</a:t>
            </a:r>
            <a:r>
              <a:rPr lang="ar-JO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4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93893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short, n8n Cloud is the easiest, Docker is the most flexible, and VPS with EasyPanel is the best balance for real business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15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176779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7EC8-1811-39CE-E97B-25A36DCB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1E5F0-6BFF-20D4-5428-450E7E84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9F2C4-B34E-19AE-B931-5CB9B5658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5A36-A3F4-AFA1-458E-23DBADC4B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16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97317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7AAE-2167-068E-00BB-2D793C18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ADD2D-F7D0-A2A2-A3A0-2D0C1FE7F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754C5-FF6F-F17B-4EB9-CBB0AA362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07F27-8885-0A91-BBD9-FF8452C4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17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99090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Grp="1" noUngrp="1" noRot="1" noMove="1" noResize="1"/>
          </p:cNvGrpSpPr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Freeform 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9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0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2778741" y="-489633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1" name="Freeform 11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2" name="Freeform 12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-1431317" flipV="1">
            <a:off x="15220054" y="654651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4" name="Freeform 1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568093" y="-7171050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8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8" y="0"/>
                </a:lnTo>
                <a:lnTo>
                  <a:pt x="9449008" y="889924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5" name="Freeform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6" name="Freeform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038" y="5656052"/>
            <a:ext cx="3808743" cy="6691508"/>
          </a:xfrm>
          <a:custGeom>
            <a:avLst/>
            <a:gdLst/>
            <a:ahLst/>
            <a:cxnLst/>
            <a:rect l="l" t="t" r="r" b="b"/>
            <a:pathLst>
              <a:path w="3808743" h="6691508">
                <a:moveTo>
                  <a:pt x="0" y="0"/>
                </a:moveTo>
                <a:lnTo>
                  <a:pt x="3808743" y="0"/>
                </a:lnTo>
                <a:lnTo>
                  <a:pt x="3808743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7" name="TextBox 17"/>
          <p:cNvSpPr txBox="1"/>
          <p:nvPr/>
        </p:nvSpPr>
        <p:spPr>
          <a:xfrm>
            <a:off x="3060740" y="6154089"/>
            <a:ext cx="11321114" cy="102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22"/>
              </a:lnSpc>
            </a:pPr>
            <a:r>
              <a:rPr lang="en-US" sz="6373" spc="-127" dirty="0">
                <a:solidFill>
                  <a:schemeClr val="accent6">
                    <a:lumMod val="20000"/>
                    <a:lumOff val="80000"/>
                  </a:schemeClr>
                </a:solidFill>
                <a:latin typeface="Bangers"/>
                <a:ea typeface="Bangers"/>
                <a:cs typeface="Bangers"/>
                <a:sym typeface="Bangers"/>
              </a:rPr>
              <a:t>By  Mohammad Ismail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059" y="2527785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3"/>
              </a:lnSpc>
            </a:pPr>
            <a:r>
              <a:rPr lang="en-US" sz="21859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N8N</a:t>
            </a:r>
            <a:r>
              <a:rPr lang="en-US" sz="21859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 </a:t>
            </a:r>
            <a:r>
              <a:rPr lang="en-US" sz="21859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COURSE</a:t>
            </a:r>
          </a:p>
        </p:txBody>
      </p:sp>
      <p:sp>
        <p:nvSpPr>
          <p:cNvPr id="19" name="Freeform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75067" y="5656052"/>
            <a:ext cx="6691508" cy="6691508"/>
          </a:xfrm>
          <a:custGeom>
            <a:avLst/>
            <a:gdLst/>
            <a:ahLst/>
            <a:cxnLst/>
            <a:rect l="l" t="t" r="r" b="b"/>
            <a:pathLst>
              <a:path w="6691508" h="6691508">
                <a:moveTo>
                  <a:pt x="0" y="0"/>
                </a:moveTo>
                <a:lnTo>
                  <a:pt x="6691508" y="0"/>
                </a:lnTo>
                <a:lnTo>
                  <a:pt x="6691508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971800" y="7613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/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/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/>
          <p:cNvSpPr/>
          <p:nvPr/>
        </p:nvSpPr>
        <p:spPr>
          <a:xfrm flipV="1">
            <a:off x="14290346" y="792546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/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966F5-BB02-8FF9-4450-4A06314AEC72}"/>
              </a:ext>
            </a:extLst>
          </p:cNvPr>
          <p:cNvSpPr txBox="1"/>
          <p:nvPr/>
        </p:nvSpPr>
        <p:spPr>
          <a:xfrm>
            <a:off x="723306" y="2346296"/>
            <a:ext cx="16841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 automation really means in business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Franklin Gothic Book" panose="020B0503020102020204" pitchFamily="34" charset="0"/>
              </a:rPr>
              <a:t>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in business means letting systems do repetitive work automatically instead of people doing it every time.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These are tasks that follow clear steps and rules, like sending emails, updating spreadsheets, moving data between systems, or creating reports.</a:t>
            </a:r>
          </a:p>
          <a:p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The goal is not to replace people, but to save time, reduce mistakes, and make work     faster and more consistent.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2D07-EFA1-F178-53BD-8ED908364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187D4E-B8BA-35AA-8A93-0E8F784B73F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D8BCB9-BDEF-1EC1-7352-7114D5AAD86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E555E6-A9A9-8931-E5F7-580C67AEC1D5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209C170-865C-E800-2232-CB4371333A73}"/>
              </a:ext>
            </a:extLst>
          </p:cNvPr>
          <p:cNvSpPr/>
          <p:nvPr/>
        </p:nvSpPr>
        <p:spPr>
          <a:xfrm>
            <a:off x="-2971800" y="78682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CF02F9-9C29-5118-E251-45554C6AD707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C6E6F29-7ABE-4868-263F-EB130657E02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DF665A-DFE8-7A82-E64E-2A468E72B7E3}"/>
              </a:ext>
            </a:extLst>
          </p:cNvPr>
          <p:cNvSpPr/>
          <p:nvPr/>
        </p:nvSpPr>
        <p:spPr>
          <a:xfrm flipV="1">
            <a:off x="14297966" y="79407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A4C3D0-4F7B-0764-5959-AEE8356AAADB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866990-8FDC-7E3E-947B-75F63B2AB70B}"/>
              </a:ext>
            </a:extLst>
          </p:cNvPr>
          <p:cNvSpPr txBox="1"/>
          <p:nvPr/>
        </p:nvSpPr>
        <p:spPr>
          <a:xfrm>
            <a:off x="723306" y="2346296"/>
            <a:ext cx="168413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Difference between manual work, automation, and AI-assisted automation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Manual work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when a human does everything by hand. A person reads information, thinks about it, decides what to do, and then performs the action.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Example: a customer support agent reads an email and replies manually.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Automation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when the steps are fixed and predictable. If something happens, the system follows predefined rules and actions.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a customer fills a form, the system automatically saves the data and sends a confirmation email.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18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7A47-51E3-DE09-C32F-D69BCB0B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A3F991-BCAA-0230-D5CA-F5EEB83197D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05646A-74FA-0E50-1B96-81C985B9A341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C5FEB7-D975-BC0C-9DF1-F6C3C628D213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84AC970-C27F-9CCA-EC5F-142535224C22}"/>
              </a:ext>
            </a:extLst>
          </p:cNvPr>
          <p:cNvSpPr/>
          <p:nvPr/>
        </p:nvSpPr>
        <p:spPr>
          <a:xfrm>
            <a:off x="-2057404" y="7124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8B430AE-D1A2-616B-4FF8-BDEBCF375465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A5501CC-D8D1-008A-A113-F277EBEF3FF1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5F5C6F-6A5F-A9B2-7488-758D7C400D6C}"/>
              </a:ext>
            </a:extLst>
          </p:cNvPr>
          <p:cNvSpPr/>
          <p:nvPr/>
        </p:nvSpPr>
        <p:spPr>
          <a:xfrm flipV="1">
            <a:off x="13716000" y="658843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88918D-4B31-FA4F-E9E6-F8232D352518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57E44-3503-9D17-821A-F241B98A7057}"/>
              </a:ext>
            </a:extLst>
          </p:cNvPr>
          <p:cNvSpPr txBox="1"/>
          <p:nvPr/>
        </p:nvSpPr>
        <p:spPr>
          <a:xfrm>
            <a:off x="723306" y="2346296"/>
            <a:ext cx="16841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Difference between manual work, automation, and AI-assisted automation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AI-assisted automation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automation that includes AI to help with thinking or understanding.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The workflow is still automated, but AI helps with decisions like understanding text, classifying messages, or generating responses.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a system that reads customer messages, understands what they want, and routes the message to the right team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14733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3562-EE6D-2B00-E42C-53E1CD25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D9128D-21F0-C8E7-5AA2-E45494EA395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ABD0F4-936F-4037-1E16-2910DE76451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8BAB6C-A3A5-C06D-5075-B8DAE3A81C2F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47744E-DEB1-0BC7-A9D6-865B04B37820}"/>
              </a:ext>
            </a:extLst>
          </p:cNvPr>
          <p:cNvSpPr/>
          <p:nvPr/>
        </p:nvSpPr>
        <p:spPr>
          <a:xfrm>
            <a:off x="-2057404" y="83871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BAD30D4-EE11-0EF3-BDF7-BED7E12B5BF0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7929B5F-D0BE-5CBB-79AF-39B9B3FD8941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9CAC32-B21F-F48B-AC05-020825AD2178}"/>
              </a:ext>
            </a:extLst>
          </p:cNvPr>
          <p:cNvSpPr/>
          <p:nvPr/>
        </p:nvSpPr>
        <p:spPr>
          <a:xfrm flipV="1">
            <a:off x="14562279" y="752428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C063C40-7152-EED3-8569-2752D60DE7E9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0AA77-0E2B-37D9-2FE1-07DE7E516877}"/>
              </a:ext>
            </a:extLst>
          </p:cNvPr>
          <p:cNvSpPr txBox="1"/>
          <p:nvPr/>
        </p:nvSpPr>
        <p:spPr>
          <a:xfrm>
            <a:off x="723306" y="2346296"/>
            <a:ext cx="16841384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Real-world business examples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Operations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can handle order processing, invoice creation, inventory updates, and internal notifications.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an order is placed, the system updates stock, creates an invoice, and notifies the operations team.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Marketing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can manage lead collection, email campaigns, and follow-up.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someone signs up on a website, they automatically receive a welcome email and are added to a mailing list.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01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2969-A17D-88FF-9800-B25FFCA1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BA6F76-7FED-0BFB-73B9-61D69D1096B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014306-48F9-00FF-8653-3F1A705F966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E6036BA-E67A-843A-DC72-41D970AE06A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24ED8D1-8063-EADC-A43F-092FDFBB2B2A}"/>
              </a:ext>
            </a:extLst>
          </p:cNvPr>
          <p:cNvSpPr/>
          <p:nvPr/>
        </p:nvSpPr>
        <p:spPr>
          <a:xfrm>
            <a:off x="-1676400" y="78149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7B1DD6E-19EE-62A4-170E-C9EFF66F1F2D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8B90F4E-8F47-4326-16E0-5C99AFCCAA2E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D67A7B3-1AE2-5035-AE34-7FFD2321E7E8}"/>
              </a:ext>
            </a:extLst>
          </p:cNvPr>
          <p:cNvSpPr/>
          <p:nvPr/>
        </p:nvSpPr>
        <p:spPr>
          <a:xfrm flipV="1">
            <a:off x="13716000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6967940-63FE-FC00-95F3-C0FA9B18B75A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4EECC8-668B-25D1-2367-64D98CA23FB3}"/>
              </a:ext>
            </a:extLst>
          </p:cNvPr>
          <p:cNvSpPr txBox="1"/>
          <p:nvPr/>
        </p:nvSpPr>
        <p:spPr>
          <a:xfrm>
            <a:off x="723306" y="2346296"/>
            <a:ext cx="168413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Real-world business examples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Customer support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and AI can handle repetitive questions and ticket routing.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an AI-powered chatbot answers common questions and sends complex cases to human agents.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3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8F65-3A5C-69EC-DF46-4A11EBDB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754321-D1E1-7619-6767-AA6BE6D47F0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D0A0D4-1119-08E6-4710-0064EEC9EE5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53E8DC-DCD8-CC7C-9444-9F132EE8CDFA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E369CF4-5555-F3F2-5019-E3E89CAB2D37}"/>
              </a:ext>
            </a:extLst>
          </p:cNvPr>
          <p:cNvSpPr/>
          <p:nvPr/>
        </p:nvSpPr>
        <p:spPr>
          <a:xfrm>
            <a:off x="-1676400" y="78149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4125AB3-E858-C172-4E3D-D0DCB0745887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6DE7564-0B22-01A6-8ADC-59E2D13A82E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B966E-3AB6-DBD3-BB12-42EAEEB437EA}"/>
              </a:ext>
            </a:extLst>
          </p:cNvPr>
          <p:cNvSpPr/>
          <p:nvPr/>
        </p:nvSpPr>
        <p:spPr>
          <a:xfrm flipV="1">
            <a:off x="13716000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AA5D9BC-8E41-EDC7-A9D6-9EAF09D44183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2E5443-E684-DDEF-A202-E69FFCF107E6}"/>
              </a:ext>
            </a:extLst>
          </p:cNvPr>
          <p:cNvSpPr txBox="1"/>
          <p:nvPr/>
        </p:nvSpPr>
        <p:spPr>
          <a:xfrm>
            <a:off x="723306" y="234629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Where n8n fits in modern companies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is a tool that connects different systems and automates workflows between them.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acts like the glue between apps such as email, databases, CRMs, forms, APIs, and AI models.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Companies use n8n to build custom automations that match their exact business needs without heavy coding.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especially useful for startups and teams that want flexibility, control, and the ability to add AI into their workflows.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23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0B13-A916-FC4C-6DAA-E9E31220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88DCC7-E562-2D68-90A1-D3136EFC43E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68BE1E-01EF-5ECA-8FA2-6F871DE271E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A661E4-225C-291E-47A7-14CE925AC6FE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7026B03-8F4D-2A8E-EDDD-B09386CCA76A}"/>
              </a:ext>
            </a:extLst>
          </p:cNvPr>
          <p:cNvSpPr/>
          <p:nvPr/>
        </p:nvSpPr>
        <p:spPr>
          <a:xfrm>
            <a:off x="-2057404" y="86556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1485F3C-83D4-AD84-9EEC-3F483B789B8B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62F070-94F7-10A2-B21C-E44277422308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ECDD36F-9FC6-372F-B380-BE9217304F6A}"/>
              </a:ext>
            </a:extLst>
          </p:cNvPr>
          <p:cNvSpPr/>
          <p:nvPr/>
        </p:nvSpPr>
        <p:spPr>
          <a:xfrm flipV="1">
            <a:off x="14297966" y="797118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2E7C3F-15ED-4DC5-0EDB-1C07604424C0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F5C15-38CA-2E78-A477-897D1F2F457E}"/>
              </a:ext>
            </a:extLst>
          </p:cNvPr>
          <p:cNvSpPr txBox="1"/>
          <p:nvPr/>
        </p:nvSpPr>
        <p:spPr>
          <a:xfrm>
            <a:off x="723306" y="2346296"/>
            <a:ext cx="16841384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vs Zapier vs Make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Zapier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Zapier is very easy to use and beginner friendly.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connect apps, choose a trigger, then an action, and it works fast.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great for simple automations but becomes expensive and limited when    workflows grow or need complex logic.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Make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Make is more visual than Zapier and allows more control over data flow.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build more complex scenarios with conditions and loops.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good for medium complexity automations but still has limits when you need deep customization or advanced logic.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528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ECBD-061E-B734-0F6B-328834A3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094B3F-B5FE-A60E-91E5-F423B020B6E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628FE8-6670-56E3-199D-6F5244DA5207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E80B039-0E33-8765-4893-DED20E022C0B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40DD96C-C402-678E-AC90-CD65EFA5430E}"/>
              </a:ext>
            </a:extLst>
          </p:cNvPr>
          <p:cNvSpPr/>
          <p:nvPr/>
        </p:nvSpPr>
        <p:spPr>
          <a:xfrm>
            <a:off x="-1770152" y="7613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A701FA-13A1-E217-C86D-EDCA9490D13F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28EDBDB-9604-7547-0B57-9C258E5F6336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A94AA08-F594-D018-6B7C-3963C9FE33EB}"/>
              </a:ext>
            </a:extLst>
          </p:cNvPr>
          <p:cNvSpPr/>
          <p:nvPr/>
        </p:nvSpPr>
        <p:spPr>
          <a:xfrm flipV="1">
            <a:off x="13494223" y="651237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8A6AE8B-1929-73CB-616C-F153F7F0BB34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F3213-577E-AE38-56ED-EEDD6E145D31}"/>
              </a:ext>
            </a:extLst>
          </p:cNvPr>
          <p:cNvSpPr txBox="1"/>
          <p:nvPr/>
        </p:nvSpPr>
        <p:spPr>
          <a:xfrm>
            <a:off x="723306" y="2346296"/>
            <a:ext cx="168413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vs Zapier vs Make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N8n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is the most flexible and powerful of the three.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lets you build complex workflows with full control over data, logic, and execution.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self-host it, customize it deeply, and connect it with almost anything, including </a:t>
            </a: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AI models and custom APIs.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And Guess What </a:t>
            </a:r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latin typeface="Franklin Gothic Book" panose="020B0503020102020204" pitchFamily="34" charset="0"/>
              </a:rPr>
              <a:t>APIs</a:t>
            </a:r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Is All We WANT!!!!!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775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3B6F-3CCE-FACA-5EB7-0F97B383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7F052E-2390-6E8F-4E86-11A2DDBD66C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841373-2DEC-B335-261B-F998150DC39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8C1D4A-B12E-39CD-9DD0-E3D4B13EE45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65A97AC-0507-E29A-A7BE-1BD5A1B9314D}"/>
              </a:ext>
            </a:extLst>
          </p:cNvPr>
          <p:cNvSpPr/>
          <p:nvPr/>
        </p:nvSpPr>
        <p:spPr>
          <a:xfrm>
            <a:off x="-1905000" y="807208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85B23DA-94E0-23B9-E2B5-CA9668F33CFC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A6DB7BA-ADB9-CD1A-0288-3908A8CF92B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58D84B-D5C5-F0DE-156A-CD290A0D7D96}"/>
              </a:ext>
            </a:extLst>
          </p:cNvPr>
          <p:cNvSpPr/>
          <p:nvPr/>
        </p:nvSpPr>
        <p:spPr>
          <a:xfrm flipV="1">
            <a:off x="13382711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9D9B2C7-E43D-F45E-EDC9-5050378C79DE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7352F-AE73-E636-5119-5DBB8AB4E5D0}"/>
              </a:ext>
            </a:extLst>
          </p:cNvPr>
          <p:cNvSpPr txBox="1"/>
          <p:nvPr/>
        </p:nvSpPr>
        <p:spPr>
          <a:xfrm>
            <a:off x="723306" y="234629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to choose each tool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Choose Zapier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something quick and simple.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non-technical users and very basic workflows.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connect a form to send an email.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Make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more control than Zapier but still want a visual builder.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for data-heavy workflows with some logic.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processing data from multiple apps and formatting it.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457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DBDB-02D5-6CA8-F0DC-FBDA59C8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3F5C76-743B-D31C-4830-5FFFCBE27AD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3B6607-D94C-7FD6-5647-871F32E63AC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724109-07BF-9C66-8244-668DE1B3C48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6DE2C2D-53CA-DB70-6EAE-752C37F6F422}"/>
              </a:ext>
            </a:extLst>
          </p:cNvPr>
          <p:cNvSpPr/>
          <p:nvPr/>
        </p:nvSpPr>
        <p:spPr>
          <a:xfrm>
            <a:off x="-1663817" y="74143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501CE2-729A-EE26-3D2E-FAB095FBE7A9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F108C7-0E1B-4E4D-AEEA-763BC0654FAB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5F0FA1-8EDC-369A-4B32-96F1204B0D86}"/>
              </a:ext>
            </a:extLst>
          </p:cNvPr>
          <p:cNvSpPr/>
          <p:nvPr/>
        </p:nvSpPr>
        <p:spPr>
          <a:xfrm flipV="1">
            <a:off x="12722936" y="613827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900EB40-D38E-8F94-801F-D7481DAF8511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B1B1C8-E3EB-67B0-FB7D-8B561DC2CD25}"/>
              </a:ext>
            </a:extLst>
          </p:cNvPr>
          <p:cNvSpPr txBox="1"/>
          <p:nvPr/>
        </p:nvSpPr>
        <p:spPr>
          <a:xfrm>
            <a:off x="723306" y="2346296"/>
            <a:ext cx="16841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to choose each tool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n8n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full control, complex logic, or custom behavior.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advanced workflows, integrations, and AI-powered systems.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building an AI agent, complex approval flows, or multi-step business processes.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667F-D098-4A7D-D203-E422A8B5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3CC1F0-4722-6ABC-EFC8-1C75F37377E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690720-458E-089D-C87A-DD992A8D051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F51788-83BC-CB34-0D7F-04E4E552A5E4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637DE42-E6D5-D865-60F4-911DE5247C4C}"/>
              </a:ext>
            </a:extLst>
          </p:cNvPr>
          <p:cNvSpPr/>
          <p:nvPr/>
        </p:nvSpPr>
        <p:spPr>
          <a:xfrm>
            <a:off x="-1725484" y="76273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500998-F38E-871D-A184-C914752986B6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BBCFD24-6E3E-9975-37F2-8FED6DF4FE56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71315F4-9AB7-8795-4688-8B731B1EA290}"/>
              </a:ext>
            </a:extLst>
          </p:cNvPr>
          <p:cNvSpPr/>
          <p:nvPr/>
        </p:nvSpPr>
        <p:spPr>
          <a:xfrm flipV="1">
            <a:off x="13381269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5E7B70E-7C55-C225-A0C7-A02554FAAE00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5495C-F7E4-CB6E-806E-224733E27A69}"/>
              </a:ext>
            </a:extLst>
          </p:cNvPr>
          <p:cNvSpPr txBox="1"/>
          <p:nvPr/>
        </p:nvSpPr>
        <p:spPr>
          <a:xfrm>
            <a:off x="723306" y="2346296"/>
            <a:ext cx="16841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Why n8n is powerful for custom and AI workflows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allows you to control every step of the workflow.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use conditions, loops, custom JavaScript, and advanced error handling.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connects easily with AI models like OpenAI, local LLMs, or any AI API.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build AI-assisted workflows such as chatbots, classifiers, summarizers, and agents.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Because it can be self-hosted, companies have more control over data, security, and costs.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5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2D5D-F01E-23C7-D40A-47BC4409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83E37D-EA61-AEE0-6E96-35662A98A018}"/>
              </a:ext>
            </a:extLst>
          </p:cNvPr>
          <p:cNvGrpSpPr/>
          <p:nvPr/>
        </p:nvGrpSpPr>
        <p:grpSpPr>
          <a:xfrm>
            <a:off x="0" y="22506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2AEB06-C297-A395-F8EF-D6CC1A65EF3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7BA709-7345-B413-795D-A2476683CD1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2C0CBF8-E757-F744-1325-AE7CEFFD5F36}"/>
              </a:ext>
            </a:extLst>
          </p:cNvPr>
          <p:cNvSpPr/>
          <p:nvPr/>
        </p:nvSpPr>
        <p:spPr>
          <a:xfrm>
            <a:off x="-2586508" y="9017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B35B096-3415-A8DE-428D-56BEF394A084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FDB8B4A-DD1C-4067-41C3-DDBCE0E9960C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97C47BD-884E-F935-D090-E9B8CBBC833C}"/>
              </a:ext>
            </a:extLst>
          </p:cNvPr>
          <p:cNvSpPr/>
          <p:nvPr/>
        </p:nvSpPr>
        <p:spPr>
          <a:xfrm flipV="1">
            <a:off x="15514740" y="8145482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C5AF91-3EA2-FE42-7426-8E68C44D6C6B}"/>
              </a:ext>
            </a:extLst>
          </p:cNvPr>
          <p:cNvSpPr txBox="1"/>
          <p:nvPr/>
        </p:nvSpPr>
        <p:spPr>
          <a:xfrm>
            <a:off x="1143000" y="157512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365E9-159C-3FE4-7D41-8D3D43DE4CC3}"/>
              </a:ext>
            </a:extLst>
          </p:cNvPr>
          <p:cNvSpPr txBox="1"/>
          <p:nvPr/>
        </p:nvSpPr>
        <p:spPr>
          <a:xfrm>
            <a:off x="723306" y="203418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n8n Cloud overview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Cloud is the hosted version of n8n managed by the n8n team.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do not need to install anything or manage servers.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just sign up, log in, and start building workflows.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Updates, backups, and infrastructure are handled for you.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the fastest way to start and best for learning, demos, and small teams.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Self-hosted n8n using Docker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Self-hosted n8n means you run n8n on your own server or machine using Docker.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Docker packages n8n with everything it needs to run, making setup easier and more consistent.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option gives you full control over data, security, and customization.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commonly used by technical teams and companies with privacy or compliance requirements.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66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56B5-749B-5D96-24C2-F3C65DF6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37560F-C2BE-2BB3-9F2A-2A341FB6774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FCBA83-D7A1-93C7-C5B0-2E44BF81DE5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309E16-5ACC-BE15-FA1A-BC54E442F3E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2F7B85-F767-2B3A-28A0-E30DDA2F9CB1}"/>
              </a:ext>
            </a:extLst>
          </p:cNvPr>
          <p:cNvSpPr/>
          <p:nvPr/>
        </p:nvSpPr>
        <p:spPr>
          <a:xfrm>
            <a:off x="-1695747" y="711249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CE6009-E812-226E-1E83-1FEA8696B29A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65F349A-6206-CEF5-6F1E-B4AB1188387A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1EB54DC-EE4E-E107-1CE3-64E37FD4ED46}"/>
              </a:ext>
            </a:extLst>
          </p:cNvPr>
          <p:cNvSpPr/>
          <p:nvPr/>
        </p:nvSpPr>
        <p:spPr>
          <a:xfrm flipV="1">
            <a:off x="13936312" y="659113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917C84-EC18-560C-5C29-AC866C65805E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B4F52-3DD7-5563-0C94-40126319EEBA}"/>
              </a:ext>
            </a:extLst>
          </p:cNvPr>
          <p:cNvSpPr txBox="1"/>
          <p:nvPr/>
        </p:nvSpPr>
        <p:spPr>
          <a:xfrm>
            <a:off x="723306" y="2034186"/>
            <a:ext cx="168413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VPS deployment using EasyPanel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In this setup, n8n runs on a cloud VPS using a tool like EasyPanel.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 provides a simple dashboard to manage Docker apps on a server.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get the benefits of self-hosting without dealing with complex server commands.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a popular option for agencies and freelancers managing n8n for multiple clients.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       In My Opinion, This Is The Best Option 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77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44C0-EFD1-77E0-7A3E-1C41F884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2B6137-6F6B-5635-80A8-B94ADF7199D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66B812-009A-1F1B-D2AC-3260F7CBA65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BB7D358-54B1-C64E-D84A-8CC622DC9775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76ADFA8-B8F6-608C-468F-1CCE5D8D612B}"/>
              </a:ext>
            </a:extLst>
          </p:cNvPr>
          <p:cNvSpPr/>
          <p:nvPr/>
        </p:nvSpPr>
        <p:spPr>
          <a:xfrm>
            <a:off x="-2616988" y="86379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EDD4020-ABA1-F19C-DCA3-37FF956C1A49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6EA96C5-5603-65AD-C14E-C6A87EBCF6D7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F7E6781-85F1-2FB3-3FF7-098F531D2D1E}"/>
              </a:ext>
            </a:extLst>
          </p:cNvPr>
          <p:cNvSpPr/>
          <p:nvPr/>
        </p:nvSpPr>
        <p:spPr>
          <a:xfrm flipV="1">
            <a:off x="16154400" y="72009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88F9637-64E4-698C-DB5D-68FE89BA3E48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57BB4-46DF-97AE-A747-9A5DD5C762D8}"/>
              </a:ext>
            </a:extLst>
          </p:cNvPr>
          <p:cNvSpPr txBox="1"/>
          <p:nvPr/>
        </p:nvSpPr>
        <p:spPr>
          <a:xfrm>
            <a:off x="723306" y="203418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How to choose the right setup for your business or client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Choose n8n Cloud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zero maintenance and quick setup.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beginners, proof of concepts, and internal tools.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self-hosted with Docker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full control over data and advanced customization.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companies with technical teams and strict data requirements.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Choose VPS with EasyPanel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control and scalability without heavy technical work.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production systems, client projects, and long-term automation platforms.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825D-AA5C-7DC8-E8CB-F3BA42A1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D66301-032F-3B7C-8A50-BA73722137E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79173B-87E5-659D-D364-9EB7B0FFF29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7B82DA-CCA7-0EC7-2137-36A15B91B5E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36AB02B-DDE7-A4EE-3080-24FE1760FEF7}"/>
              </a:ext>
            </a:extLst>
          </p:cNvPr>
          <p:cNvSpPr/>
          <p:nvPr/>
        </p:nvSpPr>
        <p:spPr>
          <a:xfrm>
            <a:off x="-2057404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2B677D5-E66B-3C61-3D02-1CB93B571FAA}"/>
              </a:ext>
            </a:extLst>
          </p:cNvPr>
          <p:cNvSpPr/>
          <p:nvPr/>
        </p:nvSpPr>
        <p:spPr>
          <a:xfrm flipH="1" flipV="1">
            <a:off x="16953902" y="-1906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AA82185-CE63-9515-E92C-2CE88A1DDC1A}"/>
              </a:ext>
            </a:extLst>
          </p:cNvPr>
          <p:cNvSpPr/>
          <p:nvPr/>
        </p:nvSpPr>
        <p:spPr>
          <a:xfrm flipH="1">
            <a:off x="-3810000" y="-619327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0BF0A29-928A-F6E4-AA4A-37DF8CFF3DEF}"/>
              </a:ext>
            </a:extLst>
          </p:cNvPr>
          <p:cNvSpPr/>
          <p:nvPr/>
        </p:nvSpPr>
        <p:spPr>
          <a:xfrm flipV="1">
            <a:off x="16012900" y="69723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A506CB0-27DE-1952-DC77-1D6648ED6D5C}"/>
              </a:ext>
            </a:extLst>
          </p:cNvPr>
          <p:cNvSpPr txBox="1"/>
          <p:nvPr/>
        </p:nvSpPr>
        <p:spPr>
          <a:xfrm>
            <a:off x="304800" y="151087"/>
            <a:ext cx="17252269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Version Control Introduction (Non-Technical)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3788C-68B0-4255-D5B1-7D8FEBA441E1}"/>
              </a:ext>
            </a:extLst>
          </p:cNvPr>
          <p:cNvSpPr txBox="1"/>
          <p:nvPr/>
        </p:nvSpPr>
        <p:spPr>
          <a:xfrm>
            <a:off x="723306" y="203418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 GitHub is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GitHub is an online platform used to store and manage project files.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think of it as a safe place where your work lives, with a full history of every change.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allows people to save versions of their work and go back to any previous version at any time.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For automation projects, it is mainly used to store workflows, configurations, and documentation.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 think that this is a must for anyone working in information and Technology industry but again this is what I think. (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2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E450F-64FE-4504-8B40-9BD216EA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2B8C55-9916-5812-1580-F8D47FBD68C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67556E-9AC4-91FF-9681-63E7E659BDB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6FCF01-ADD3-CD00-399B-53024C5DED14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B058724-D053-4C01-BE2D-7F774934F458}"/>
              </a:ext>
            </a:extLst>
          </p:cNvPr>
          <p:cNvSpPr/>
          <p:nvPr/>
        </p:nvSpPr>
        <p:spPr>
          <a:xfrm>
            <a:off x="-1752600" y="820638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B987184-3FA0-C144-5CC6-73933B4F4FAF}"/>
              </a:ext>
            </a:extLst>
          </p:cNvPr>
          <p:cNvSpPr/>
          <p:nvPr/>
        </p:nvSpPr>
        <p:spPr>
          <a:xfrm flipH="1" flipV="1">
            <a:off x="16953902" y="-1906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AC78A35-5755-8039-B705-EB63AC2E609B}"/>
              </a:ext>
            </a:extLst>
          </p:cNvPr>
          <p:cNvSpPr/>
          <p:nvPr/>
        </p:nvSpPr>
        <p:spPr>
          <a:xfrm flipH="1">
            <a:off x="-3810000" y="-619327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8E7819C-E368-E935-E0B1-B01D48DE3F58}"/>
              </a:ext>
            </a:extLst>
          </p:cNvPr>
          <p:cNvSpPr/>
          <p:nvPr/>
        </p:nvSpPr>
        <p:spPr>
          <a:xfrm flipV="1">
            <a:off x="16459200" y="71247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5A3DFBD-5102-7D88-76F6-4C167F696CB6}"/>
              </a:ext>
            </a:extLst>
          </p:cNvPr>
          <p:cNvSpPr txBox="1"/>
          <p:nvPr/>
        </p:nvSpPr>
        <p:spPr>
          <a:xfrm>
            <a:off x="304800" y="151087"/>
            <a:ext cx="17252269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Version Control Introduction (Non-Technical)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6F0E2-60BF-1E20-558D-628FECCE1887}"/>
              </a:ext>
            </a:extLst>
          </p:cNvPr>
          <p:cNvSpPr txBox="1"/>
          <p:nvPr/>
        </p:nvSpPr>
        <p:spPr>
          <a:xfrm>
            <a:off x="723306" y="203418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Why version control matters for automation projects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workflows change over time.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fix bugs, add steps, improve logic, or connect new tools.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Version control keeps track of all these changes, so nothing is lost.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If something breaks, you can go back to a working version easily.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also helps avoid the problem of overwriting work or losing important setups.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Simple workflow backup and collaboration mindset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Think of version control as regular backups, but smarter.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Each time you make a meaningful change, you save a new version.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If you work with a team or clients, everyone can see what changed and when.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creates a habit of organized work instead of scattered files and manual backups.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3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0" name="Freeform 10"/>
          <p:cNvSpPr/>
          <p:nvPr/>
        </p:nvSpPr>
        <p:spPr>
          <a:xfrm flipH="1">
            <a:off x="-2778741" y="-489633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2" name="Freeform 12"/>
          <p:cNvSpPr/>
          <p:nvPr/>
        </p:nvSpPr>
        <p:spPr>
          <a:xfrm flipV="1">
            <a:off x="13742416" y="72495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4" name="Freeform 14"/>
          <p:cNvSpPr/>
          <p:nvPr/>
        </p:nvSpPr>
        <p:spPr>
          <a:xfrm flipH="1" flipV="1">
            <a:off x="6568093" y="-7171050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8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8" y="0"/>
                </a:lnTo>
                <a:lnTo>
                  <a:pt x="9449008" y="889924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6" name="TextBox 16"/>
          <p:cNvSpPr txBox="1"/>
          <p:nvPr/>
        </p:nvSpPr>
        <p:spPr>
          <a:xfrm>
            <a:off x="1709747" y="2974892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3"/>
              </a:lnSpc>
            </a:pPr>
            <a:r>
              <a:rPr lang="en-US" sz="21859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1579</Words>
  <Application>Microsoft Office PowerPoint</Application>
  <PresentationFormat>Custom</PresentationFormat>
  <Paragraphs>162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Bangers</vt:lpstr>
      <vt:lpstr>Arial</vt:lpstr>
      <vt:lpstr>Calibri</vt:lpstr>
      <vt:lpstr>Franklin Gothic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Black and Yellow Comic Book Style Presentation</dc:title>
  <cp:lastModifiedBy>محمد اسماعيل عبد القادر اسماعيل</cp:lastModifiedBy>
  <cp:revision>13</cp:revision>
  <dcterms:created xsi:type="dcterms:W3CDTF">2006-08-16T00:00:00Z</dcterms:created>
  <dcterms:modified xsi:type="dcterms:W3CDTF">2026-02-02T17:24:09Z</dcterms:modified>
  <dc:identifier>DAG_0EsxqJs</dc:identifier>
</cp:coreProperties>
</file>